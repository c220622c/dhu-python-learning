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52"/>
  </p:notesMasterIdLst>
  <p:handoutMasterIdLst>
    <p:handoutMasterId r:id="rId53"/>
  </p:handoutMasterIdLst>
  <p:sldIdLst>
    <p:sldId id="679" r:id="rId2"/>
    <p:sldId id="1320" r:id="rId3"/>
    <p:sldId id="1041" r:id="rId4"/>
    <p:sldId id="1363" r:id="rId5"/>
    <p:sldId id="1364" r:id="rId6"/>
    <p:sldId id="1365" r:id="rId7"/>
    <p:sldId id="1366" r:id="rId8"/>
    <p:sldId id="1367" r:id="rId9"/>
    <p:sldId id="1441" r:id="rId10"/>
    <p:sldId id="1387" r:id="rId11"/>
    <p:sldId id="1388" r:id="rId12"/>
    <p:sldId id="1389" r:id="rId13"/>
    <p:sldId id="1390" r:id="rId14"/>
    <p:sldId id="1391" r:id="rId15"/>
    <p:sldId id="1392" r:id="rId16"/>
    <p:sldId id="1393" r:id="rId17"/>
    <p:sldId id="1394" r:id="rId18"/>
    <p:sldId id="1395" r:id="rId19"/>
    <p:sldId id="1396" r:id="rId20"/>
    <p:sldId id="1368" r:id="rId21"/>
    <p:sldId id="1369" r:id="rId22"/>
    <p:sldId id="1370" r:id="rId23"/>
    <p:sldId id="1371" r:id="rId24"/>
    <p:sldId id="1372" r:id="rId25"/>
    <p:sldId id="1373" r:id="rId26"/>
    <p:sldId id="1374" r:id="rId27"/>
    <p:sldId id="1375" r:id="rId28"/>
    <p:sldId id="1376" r:id="rId29"/>
    <p:sldId id="1377" r:id="rId30"/>
    <p:sldId id="1378" r:id="rId31"/>
    <p:sldId id="1379" r:id="rId32"/>
    <p:sldId id="1380" r:id="rId33"/>
    <p:sldId id="1381" r:id="rId34"/>
    <p:sldId id="1382" r:id="rId35"/>
    <p:sldId id="1383" r:id="rId36"/>
    <p:sldId id="1384" r:id="rId37"/>
    <p:sldId id="1385" r:id="rId38"/>
    <p:sldId id="1386" r:id="rId39"/>
    <p:sldId id="1442" r:id="rId40"/>
    <p:sldId id="1397" r:id="rId41"/>
    <p:sldId id="1398" r:id="rId42"/>
    <p:sldId id="1399" r:id="rId43"/>
    <p:sldId id="1400" r:id="rId44"/>
    <p:sldId id="1403" r:id="rId45"/>
    <p:sldId id="1412" r:id="rId46"/>
    <p:sldId id="1420" r:id="rId47"/>
    <p:sldId id="1421" r:id="rId48"/>
    <p:sldId id="1422" r:id="rId49"/>
    <p:sldId id="1423" r:id="rId50"/>
    <p:sldId id="1425" r:id="rId51"/>
  </p:sldIdLst>
  <p:sldSz cx="12192000" cy="6858000"/>
  <p:notesSz cx="9932988" cy="68008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14" autoAdjust="0"/>
    <p:restoredTop sz="94982" autoAdjust="0"/>
  </p:normalViewPr>
  <p:slideViewPr>
    <p:cSldViewPr snapToGrid="0">
      <p:cViewPr varScale="1">
        <p:scale>
          <a:sx n="90" d="100"/>
          <a:sy n="90" d="100"/>
        </p:scale>
        <p:origin x="6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4295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6395" y="1"/>
            <a:ext cx="4304295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EBC00-9D31-4FA7-B348-F51BC2D6D6EC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9627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6395" y="6459627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C31F3-25E4-4B5F-9C5E-2A394612F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0418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4295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6395" y="1"/>
            <a:ext cx="4304295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2C226-8081-4B42-BAF8-D6C435A8754D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78288" cy="2293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3299" y="3272909"/>
            <a:ext cx="7946390" cy="26778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9627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6395" y="6459627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5B46B-A9D9-446D-9AEE-2985CDBD48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82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430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09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005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020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3376-C900-482E-A899-433F53FD0DFB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7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24293"/>
            <a:ext cx="7912395" cy="83997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44496"/>
            <a:ext cx="10515600" cy="4732467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838200" y="1277797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/>
          <p:cNvSpPr/>
          <p:nvPr userDrawn="1"/>
        </p:nvSpPr>
        <p:spPr>
          <a:xfrm rot="5400000">
            <a:off x="437522" y="1400834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50" y="288128"/>
            <a:ext cx="2700950" cy="9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1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464882"/>
            <a:ext cx="10515600" cy="282667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E9CE-5ED9-418B-BE79-9A22F248737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2" name="直线连接符 8"/>
          <p:cNvCxnSpPr/>
          <p:nvPr userDrawn="1"/>
        </p:nvCxnSpPr>
        <p:spPr>
          <a:xfrm>
            <a:off x="801975" y="4446613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rot="5400000">
            <a:off x="401297" y="4558704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50" y="288128"/>
            <a:ext cx="2700950" cy="9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1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444496"/>
            <a:ext cx="5181600" cy="4732467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444496"/>
            <a:ext cx="5181600" cy="4732467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838201" y="324293"/>
            <a:ext cx="8114414" cy="83997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17" name="直线连接符 8"/>
          <p:cNvCxnSpPr/>
          <p:nvPr userDrawn="1"/>
        </p:nvCxnSpPr>
        <p:spPr>
          <a:xfrm>
            <a:off x="838200" y="1277797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五边形 19"/>
          <p:cNvSpPr/>
          <p:nvPr userDrawn="1"/>
        </p:nvSpPr>
        <p:spPr>
          <a:xfrm rot="5400000">
            <a:off x="437522" y="1400834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288128"/>
            <a:ext cx="2700950" cy="9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9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35B9-A4AD-49F5-B8AA-38170ADB59D5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14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761E3-8549-4D93-8215-993B0257D01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13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E2506-F0BB-4586-90ED-E05A37EA3BF8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41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F4B1F-A0D9-45E4-B33E-37786987F3D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40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E700-7A6F-4265-95F3-0B1DEFFA59A8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74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141C-D6C7-4793-811C-D653CC392968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1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2CBF8-136E-4251-AB94-81E3C65211B5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320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B40A-A98E-4DD6-B4FB-E4E3E1245471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92224"/>
            <a:ext cx="8908774" cy="1325563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221" y="160411"/>
            <a:ext cx="1438275" cy="1438275"/>
          </a:xfrm>
          <a:prstGeom prst="rect">
            <a:avLst/>
          </a:prstGeom>
        </p:spPr>
      </p:pic>
      <p:cxnSp>
        <p:nvCxnSpPr>
          <p:cNvPr id="10" name="直线连接符 8"/>
          <p:cNvCxnSpPr/>
          <p:nvPr/>
        </p:nvCxnSpPr>
        <p:spPr>
          <a:xfrm>
            <a:off x="838200" y="1469182"/>
            <a:ext cx="99769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五边形 10"/>
          <p:cNvSpPr/>
          <p:nvPr/>
        </p:nvSpPr>
        <p:spPr>
          <a:xfrm rot="5400000">
            <a:off x="449752" y="1591666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616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DA9E6-B273-4B8C-9551-9003DD0BFB6D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92224"/>
            <a:ext cx="8908774" cy="1325563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221" y="160411"/>
            <a:ext cx="1438275" cy="1438275"/>
          </a:xfrm>
          <a:prstGeom prst="rect">
            <a:avLst/>
          </a:prstGeom>
        </p:spPr>
      </p:pic>
      <p:cxnSp>
        <p:nvCxnSpPr>
          <p:cNvPr id="10" name="直线连接符 8"/>
          <p:cNvCxnSpPr/>
          <p:nvPr userDrawn="1"/>
        </p:nvCxnSpPr>
        <p:spPr>
          <a:xfrm>
            <a:off x="838200" y="1469182"/>
            <a:ext cx="99769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五边形 10"/>
          <p:cNvSpPr/>
          <p:nvPr userDrawn="1"/>
        </p:nvSpPr>
        <p:spPr>
          <a:xfrm rot="5400000">
            <a:off x="449752" y="1591666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936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32593-0935-4FFD-8D5B-DB31C1834F9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64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7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7485" y="3454401"/>
            <a:ext cx="10668000" cy="1142574"/>
          </a:xfrm>
        </p:spPr>
        <p:txBody>
          <a:bodyPr>
            <a:normAutofit/>
          </a:bodyPr>
          <a:lstStyle/>
          <a:p>
            <a:r>
              <a:rPr lang="en-US" altLang="zh-CN" sz="5400" b="1" dirty="0"/>
              <a:t>Python</a:t>
            </a:r>
            <a:r>
              <a:rPr lang="zh-CN" altLang="en-US" sz="5400" b="1" dirty="0"/>
              <a:t>课程答疑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134" y="805974"/>
            <a:ext cx="2077936" cy="19504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85" y="976512"/>
            <a:ext cx="4764719" cy="160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4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上半</a:t>
            </a:r>
            <a:r>
              <a:rPr lang="zh-CN" altLang="en-US"/>
              <a:t>学期复习资料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1. </a:t>
            </a:r>
            <a:r>
              <a:rPr lang="zh-CN" altLang="en-US" dirty="0"/>
              <a:t>输入输出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2. </a:t>
            </a:r>
            <a:r>
              <a:rPr lang="zh-CN" altLang="en-US" dirty="0"/>
              <a:t>数据类型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3. </a:t>
            </a:r>
            <a:r>
              <a:rPr lang="zh-CN" altLang="en-US" dirty="0"/>
              <a:t>程序控制结构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175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38A63-D534-7249-A588-9A60329D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输入输出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B0CE2F9-DF01-E940-AE79-26891A161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68090-9F33-1944-B815-F06055EF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A038-A2DE-BC48-A788-F05078674D9D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EDF4B-B0C4-1C45-90B5-54576D85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94C11A-F535-E241-A2FF-614C2376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87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为什么会有字符串的格式化问题？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当需要同时输出字符串和变量，就需要字符串的格式化</a:t>
            </a:r>
          </a:p>
        </p:txBody>
      </p:sp>
      <p:sp>
        <p:nvSpPr>
          <p:cNvPr id="23556" name="矩形 2"/>
          <p:cNvSpPr>
            <a:spLocks noChangeArrowheads="1"/>
          </p:cNvSpPr>
          <p:nvPr/>
        </p:nvSpPr>
        <p:spPr bwMode="auto">
          <a:xfrm>
            <a:off x="2409568" y="3810729"/>
            <a:ext cx="7515225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日志：</a:t>
            </a:r>
            <a:endParaRPr lang="en-US" altLang="zh-CN" sz="2400" dirty="0"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“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2016-12-31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”：计算机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PYTHON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的</a:t>
            </a:r>
            <a:r>
              <a:rPr lang="en-US" altLang="zh-CN" sz="2400" dirty="0">
                <a:latin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占用率为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10</a:t>
            </a:r>
            <a:r>
              <a:rPr lang="en-US" altLang="zh-CN" sz="2400" dirty="0">
                <a:latin typeface="Calibri" panose="020F0502020204030204" pitchFamily="34" charset="0"/>
                <a:cs typeface="Courier New" panose="02070309020205020404" pitchFamily="49" charset="0"/>
              </a:rPr>
              <a:t>%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“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2016-12-30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”：计算机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PYTHON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的</a:t>
            </a:r>
            <a:r>
              <a:rPr lang="en-US" altLang="zh-CN" sz="2400" dirty="0">
                <a:latin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占用率为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5</a:t>
            </a:r>
            <a:r>
              <a:rPr lang="en-US" altLang="zh-CN" sz="2400" dirty="0">
                <a:latin typeface="Calibri" panose="020F0502020204030204" pitchFamily="34" charset="0"/>
                <a:cs typeface="Courier New" panose="02070309020205020404" pitchFamily="49" charset="0"/>
              </a:rPr>
              <a:t>%</a:t>
            </a:r>
            <a:endParaRPr lang="zh-CN" altLang="zh-CN" sz="2400" dirty="0"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“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2016-12-29</a:t>
            </a:r>
            <a:r>
              <a:rPr lang="en-US" altLang="zh-CN" sz="2400" dirty="0">
                <a:latin typeface="Calibri" panose="020F0502020204030204" pitchFamily="34" charset="0"/>
                <a:cs typeface="Courier New" panose="02070309020205020404" pitchFamily="49" charset="0"/>
              </a:rPr>
              <a:t>”   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：计算机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OFFICE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的</a:t>
            </a:r>
            <a:r>
              <a:rPr lang="en-US" altLang="zh-CN" sz="2400" dirty="0">
                <a:latin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zh-CN" altLang="en-US" sz="2400" dirty="0">
                <a:latin typeface="Calibri" panose="020F0502020204030204" pitchFamily="34" charset="0"/>
                <a:cs typeface="Courier New" panose="02070309020205020404" pitchFamily="49" charset="0"/>
              </a:rPr>
              <a:t>占用率为</a:t>
            </a:r>
            <a:r>
              <a:rPr lang="en-US" altLang="zh-CN" sz="2400" u="sng" dirty="0">
                <a:latin typeface="Calibri" panose="020F0502020204030204" pitchFamily="34" charset="0"/>
                <a:cs typeface="Courier New" panose="02070309020205020404" pitchFamily="49" charset="0"/>
              </a:rPr>
              <a:t>30</a:t>
            </a:r>
            <a:r>
              <a:rPr lang="en-US" altLang="zh-CN" sz="2400" dirty="0">
                <a:latin typeface="Calibri" panose="020F0502020204030204" pitchFamily="34" charset="0"/>
                <a:cs typeface="Courier New" panose="02070309020205020404" pitchFamily="49" charset="0"/>
              </a:rPr>
              <a:t>%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zh-C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61730" y="225248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输出方式一：输出变量</a:t>
            </a:r>
            <a:endParaRPr lang="en-US" altLang="zh-CN" dirty="0"/>
          </a:p>
          <a:p>
            <a:pPr lvl="1"/>
            <a:r>
              <a:rPr lang="en-US" altLang="zh-CN" dirty="0"/>
              <a:t>print(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zh-CN" altLang="en-US" b="1" dirty="0">
                <a:solidFill>
                  <a:srgbClr val="FF0000"/>
                </a:solidFill>
              </a:rPr>
              <a:t>变量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输出方式二：输出字符串</a:t>
            </a:r>
            <a:endParaRPr lang="en-US" altLang="zh-CN" dirty="0"/>
          </a:p>
          <a:p>
            <a:pPr lvl="1"/>
            <a:r>
              <a:rPr lang="en-US" altLang="zh-CN" dirty="0"/>
              <a:t>print(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zh-CN" altLang="en-US" b="1" dirty="0">
                <a:solidFill>
                  <a:srgbClr val="FF0000"/>
                </a:solidFill>
              </a:rPr>
              <a:t>字符串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796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format()</a:t>
            </a:r>
            <a:r>
              <a:rPr lang="zh-CN" altLang="en-US" dirty="0"/>
              <a:t>方法的基本使用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zh-CN" dirty="0"/>
              <a:t>字符串</a:t>
            </a:r>
            <a:r>
              <a:rPr lang="en-US" altLang="zh-CN" dirty="0"/>
              <a:t>format()</a:t>
            </a:r>
            <a:r>
              <a:rPr lang="zh-CN" altLang="zh-CN" dirty="0"/>
              <a:t>方法的基本使用格式是：</a:t>
            </a:r>
            <a:endParaRPr lang="zh-CN" altLang="en-US" dirty="0"/>
          </a:p>
          <a:p>
            <a:pPr>
              <a:spcBef>
                <a:spcPct val="0"/>
              </a:spcBef>
              <a:buFontTx/>
              <a:buNone/>
            </a:pPr>
            <a:endParaRPr lang="zh-CN" altLang="zh-CN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/>
              <a:t>&lt;</a:t>
            </a:r>
            <a:r>
              <a:rPr lang="zh-CN" altLang="zh-CN" dirty="0"/>
              <a:t>模板字符串</a:t>
            </a:r>
            <a:r>
              <a:rPr lang="en-US" altLang="zh-CN" dirty="0"/>
              <a:t>&gt;.format(&lt;</a:t>
            </a:r>
            <a:r>
              <a:rPr lang="zh-CN" altLang="zh-CN" dirty="0"/>
              <a:t>逗号分隔的参数</a:t>
            </a:r>
            <a:r>
              <a:rPr lang="en-US" altLang="zh-CN" dirty="0"/>
              <a:t>&gt;)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349852"/>
            <a:ext cx="7364412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3875881" y="5618957"/>
            <a:ext cx="403225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槽的默认顺序从</a:t>
            </a:r>
            <a:r>
              <a:rPr lang="en-US" altLang="zh-CN" b="1" dirty="0">
                <a:solidFill>
                  <a:schemeClr val="tx1"/>
                </a:solidFill>
              </a:rPr>
              <a:t>0</a:t>
            </a:r>
            <a:r>
              <a:rPr lang="zh-CN" altLang="en-US" b="1" dirty="0">
                <a:solidFill>
                  <a:schemeClr val="tx1"/>
                </a:solidFill>
              </a:rPr>
              <a:t>开始计数</a:t>
            </a:r>
          </a:p>
        </p:txBody>
      </p:sp>
    </p:spTree>
    <p:extLst>
      <p:ext uri="{BB962C8B-B14F-4D97-AF65-F5344CB8AC3E}">
        <p14:creationId xmlns:p14="http://schemas.microsoft.com/office/powerpoint/2010/main" val="21486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更改槽的顺序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2924175"/>
            <a:ext cx="7343775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829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format()</a:t>
            </a:r>
            <a:r>
              <a:rPr lang="zh-CN" altLang="en-US" dirty="0"/>
              <a:t>方法的格式控制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format()</a:t>
            </a:r>
            <a:r>
              <a:rPr lang="zh-CN" altLang="en-US" dirty="0"/>
              <a:t>方法中模板字符串的槽除了包括参数序号，还可以包括格式控制信息。此时，槽的内部样式如下：</a:t>
            </a:r>
          </a:p>
          <a:p>
            <a:pPr lvl="1"/>
            <a:r>
              <a:rPr lang="en-US" altLang="zh-CN" dirty="0"/>
              <a:t>{&lt;</a:t>
            </a:r>
            <a:r>
              <a:rPr lang="zh-CN" altLang="en-US" dirty="0"/>
              <a:t>参数序号</a:t>
            </a:r>
            <a:r>
              <a:rPr lang="en-US" altLang="zh-CN" dirty="0"/>
              <a:t>&gt;: &lt;</a:t>
            </a:r>
            <a:r>
              <a:rPr lang="zh-CN" altLang="en-US" dirty="0"/>
              <a:t>格式控制标记</a:t>
            </a:r>
            <a:r>
              <a:rPr lang="en-US" altLang="zh-CN" dirty="0"/>
              <a:t>&gt;}  </a:t>
            </a:r>
          </a:p>
          <a:p>
            <a:r>
              <a:rPr lang="zh-CN" altLang="en-US" dirty="0"/>
              <a:t>其中，格式控制标记用来控制参数显示时的格式 。格式控制标记包括：</a:t>
            </a:r>
            <a:r>
              <a:rPr lang="en-US" altLang="zh-CN" dirty="0"/>
              <a:t>&lt;</a:t>
            </a:r>
            <a:r>
              <a:rPr lang="zh-CN" altLang="en-US" dirty="0"/>
              <a:t>填充</a:t>
            </a:r>
            <a:r>
              <a:rPr lang="en-US" altLang="zh-CN" dirty="0"/>
              <a:t>&gt;&lt;</a:t>
            </a:r>
            <a:r>
              <a:rPr lang="zh-CN" altLang="en-US" dirty="0"/>
              <a:t>对齐</a:t>
            </a:r>
            <a:r>
              <a:rPr lang="en-US" altLang="zh-CN" dirty="0"/>
              <a:t>&gt;&lt;</a:t>
            </a:r>
            <a:r>
              <a:rPr lang="zh-CN" altLang="en-US" dirty="0"/>
              <a:t>宽度</a:t>
            </a:r>
            <a:r>
              <a:rPr lang="en-US" altLang="zh-CN" dirty="0"/>
              <a:t>&gt;,&lt;.</a:t>
            </a:r>
            <a:r>
              <a:rPr lang="zh-CN" altLang="en-US" dirty="0"/>
              <a:t>精度</a:t>
            </a:r>
            <a:r>
              <a:rPr lang="en-US" altLang="zh-CN" dirty="0"/>
              <a:t>&gt;&lt;</a:t>
            </a:r>
            <a:r>
              <a:rPr lang="zh-CN" altLang="en-US" dirty="0"/>
              <a:t>类型</a:t>
            </a:r>
            <a:r>
              <a:rPr lang="en-US" altLang="zh-CN" dirty="0"/>
              <a:t>&gt;6</a:t>
            </a:r>
            <a:r>
              <a:rPr lang="zh-CN" altLang="en-US" dirty="0"/>
              <a:t>个字段，这些字段都是可选的，可以组合使用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4250569"/>
            <a:ext cx="7639050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664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参数序号</a:t>
            </a:r>
            <a:r>
              <a:rPr lang="en-US" altLang="zh-CN" dirty="0"/>
              <a:t>&gt;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明文交换</a:t>
            </a:r>
            <a:endParaRPr lang="en-US" altLang="zh-CN" dirty="0"/>
          </a:p>
          <a:p>
            <a:r>
              <a:rPr lang="en-US" altLang="zh-CN" dirty="0"/>
              <a:t>&lt;</a:t>
            </a:r>
            <a:r>
              <a:rPr lang="zh-CN" altLang="en-US" dirty="0"/>
              <a:t>填充</a:t>
            </a:r>
            <a:r>
              <a:rPr lang="en-US" altLang="zh-CN" dirty="0"/>
              <a:t>&gt;&lt;</a:t>
            </a:r>
            <a:r>
              <a:rPr lang="zh-CN" altLang="en-US" dirty="0"/>
              <a:t>对齐</a:t>
            </a:r>
            <a:r>
              <a:rPr lang="en-US" altLang="zh-CN" dirty="0"/>
              <a:t>&gt;&lt;</a:t>
            </a:r>
            <a:r>
              <a:rPr lang="zh-CN" altLang="en-US" dirty="0"/>
              <a:t>宽度</a:t>
            </a:r>
            <a:r>
              <a:rPr lang="en-US" altLang="zh-CN" dirty="0"/>
              <a:t>&gt;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</a:t>
            </a:r>
            <a:r>
              <a:rPr lang="zh-CN" altLang="en-US" dirty="0"/>
              <a:t>九九乘法表</a:t>
            </a:r>
            <a:endParaRPr lang="en-US" altLang="zh-CN" dirty="0"/>
          </a:p>
          <a:p>
            <a:r>
              <a:rPr lang="en-US" altLang="zh-CN" dirty="0"/>
              <a:t>&lt;.</a:t>
            </a:r>
            <a:r>
              <a:rPr lang="zh-CN" altLang="en-US" dirty="0"/>
              <a:t>精度</a:t>
            </a:r>
            <a:r>
              <a:rPr lang="en-US" altLang="zh-CN" dirty="0"/>
              <a:t>&gt;&lt;</a:t>
            </a:r>
            <a:r>
              <a:rPr lang="zh-CN" altLang="en-US" dirty="0"/>
              <a:t>类型</a:t>
            </a:r>
            <a:r>
              <a:rPr lang="en-US" altLang="zh-CN" dirty="0"/>
              <a:t>&gt;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保留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位小数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79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38A63-D534-7249-A588-9A60329D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lang="zh-CN" altLang="en-US" dirty="0"/>
              <a:t>数据类型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B0CE2F9-DF01-E940-AE79-26891A161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68090-9F33-1944-B815-F06055EF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A038-A2DE-BC48-A788-F05078674D9D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EDF4B-B0C4-1C45-90B5-54576D85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94C11A-F535-E241-A2FF-614C2376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79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列表的额外操作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元组是不可修改的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列表是可以修改的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额外操作包括：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修改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增加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删除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排序</a:t>
            </a:r>
          </a:p>
        </p:txBody>
      </p:sp>
    </p:spTree>
    <p:extLst>
      <p:ext uri="{BB962C8B-B14F-4D97-AF65-F5344CB8AC3E}">
        <p14:creationId xmlns:p14="http://schemas.microsoft.com/office/powerpoint/2010/main" val="168089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修改列表元素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4-11】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ls[</a:t>
            </a:r>
            <a:r>
              <a:rPr lang="en-US" altLang="zh-CN" dirty="0" err="1"/>
              <a:t>i</a:t>
            </a:r>
            <a:r>
              <a:rPr lang="en-US" altLang="zh-CN" dirty="0"/>
              <a:t>] = x #</a:t>
            </a:r>
            <a:r>
              <a:rPr lang="zh-CN" altLang="en-US" dirty="0"/>
              <a:t>替换列表</a:t>
            </a:r>
            <a:r>
              <a:rPr lang="en-US" altLang="zh-CN" dirty="0"/>
              <a:t>ls</a:t>
            </a:r>
            <a:r>
              <a:rPr lang="zh-CN" altLang="en-US" dirty="0"/>
              <a:t>的第</a:t>
            </a:r>
            <a:r>
              <a:rPr lang="en-US" altLang="zh-CN" dirty="0" err="1"/>
              <a:t>i</a:t>
            </a:r>
            <a:r>
              <a:rPr lang="zh-CN" altLang="en-US" dirty="0"/>
              <a:t>个元素为</a:t>
            </a:r>
            <a:r>
              <a:rPr lang="en-US" altLang="zh-CN" dirty="0"/>
              <a:t>x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4" y="2083057"/>
            <a:ext cx="8429625" cy="429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在列表中添加元素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4-12】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在列表末尾添加元素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ls.append</a:t>
            </a:r>
            <a:r>
              <a:rPr lang="en-US" altLang="zh-CN" dirty="0"/>
              <a:t>(x)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7" y="2528199"/>
            <a:ext cx="7705725" cy="376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6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在列表中添加元素</a:t>
            </a:r>
            <a:r>
              <a:rPr lang="en-US" altLang="zh-CN" dirty="0"/>
              <a:t>(2) 【</a:t>
            </a:r>
            <a:r>
              <a:rPr lang="zh-CN" altLang="en-US" dirty="0"/>
              <a:t>例</a:t>
            </a:r>
            <a:r>
              <a:rPr lang="en-US" altLang="zh-CN" dirty="0"/>
              <a:t>4-13】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在列表中插入元素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ls.insert</a:t>
            </a:r>
            <a:r>
              <a:rPr lang="en-US" altLang="zh-CN" dirty="0"/>
              <a:t>(</a:t>
            </a:r>
            <a:r>
              <a:rPr lang="en-US" altLang="zh-CN" dirty="0" err="1"/>
              <a:t>i,x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199" y="2466348"/>
            <a:ext cx="7572375" cy="399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4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从列表中删除元素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4-14】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</a:t>
            </a:r>
            <a:r>
              <a:rPr lang="en-US" altLang="zh-CN" dirty="0"/>
              <a:t>del</a:t>
            </a:r>
            <a:r>
              <a:rPr lang="zh-CN" altLang="en-US" dirty="0"/>
              <a:t>语句删除元素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del ls[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</a:p>
          <a:p>
            <a:pPr lvl="1">
              <a:defRPr/>
            </a:pPr>
            <a:r>
              <a:rPr lang="en-US" altLang="zh-CN" dirty="0"/>
              <a:t>del ls[</a:t>
            </a:r>
            <a:r>
              <a:rPr lang="en-US" altLang="zh-CN" dirty="0" err="1"/>
              <a:t>i:j</a:t>
            </a:r>
            <a:r>
              <a:rPr lang="en-US" altLang="zh-CN" dirty="0"/>
              <a:t>]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75" y="2146726"/>
            <a:ext cx="7234237" cy="446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70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从列表中删除元素</a:t>
            </a:r>
            <a:r>
              <a:rPr lang="en-US" altLang="zh-CN" dirty="0"/>
              <a:t>(2) 【</a:t>
            </a:r>
            <a:r>
              <a:rPr lang="zh-CN" altLang="en-US" dirty="0"/>
              <a:t>例</a:t>
            </a:r>
            <a:r>
              <a:rPr lang="en-US" altLang="zh-CN" dirty="0"/>
              <a:t>4-15】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使用方法</a:t>
            </a:r>
            <a:r>
              <a:rPr lang="en-US" altLang="zh-CN" dirty="0"/>
              <a:t>pop()</a:t>
            </a:r>
            <a:r>
              <a:rPr lang="zh-CN" altLang="en-US" dirty="0"/>
              <a:t>删除元素，并获得该元素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ls.pop</a:t>
            </a:r>
            <a:r>
              <a:rPr lang="en-US" altLang="zh-CN" dirty="0"/>
              <a:t>()</a:t>
            </a:r>
          </a:p>
          <a:p>
            <a:pPr lvl="1">
              <a:defRPr/>
            </a:pPr>
            <a:r>
              <a:rPr lang="en-US" altLang="zh-CN" dirty="0" err="1"/>
              <a:t>ls.pop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088" y="2203709"/>
            <a:ext cx="7224712" cy="447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2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从列表中删除元素</a:t>
            </a:r>
            <a:r>
              <a:rPr lang="en-US" altLang="zh-CN" dirty="0"/>
              <a:t>(3) 【</a:t>
            </a:r>
            <a:r>
              <a:rPr lang="zh-CN" altLang="en-US" dirty="0"/>
              <a:t>例</a:t>
            </a:r>
            <a:r>
              <a:rPr lang="en-US" altLang="zh-CN" dirty="0"/>
              <a:t>4-16】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根据元素值来删除元素，删除列表中出现的第一个元素</a:t>
            </a:r>
            <a:r>
              <a:rPr lang="en-US" altLang="zh-CN" dirty="0"/>
              <a:t>x</a:t>
            </a:r>
          </a:p>
          <a:p>
            <a:pPr lvl="1">
              <a:defRPr/>
            </a:pPr>
            <a:r>
              <a:rPr lang="en-US" altLang="zh-CN" dirty="0" err="1"/>
              <a:t>ls.remove</a:t>
            </a:r>
            <a:r>
              <a:rPr lang="en-US" altLang="zh-CN" dirty="0"/>
              <a:t>(x)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2733708"/>
            <a:ext cx="10020300" cy="359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3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列表排序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4-17】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使用方法</a:t>
            </a:r>
            <a:r>
              <a:rPr lang="en-US" altLang="zh-CN" dirty="0"/>
              <a:t>sort()</a:t>
            </a:r>
            <a:r>
              <a:rPr lang="zh-CN" altLang="en-US" dirty="0"/>
              <a:t>对列表进行永久性排序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ls.sort</a:t>
            </a:r>
            <a:r>
              <a:rPr lang="en-US" altLang="zh-CN" dirty="0"/>
              <a:t>()</a:t>
            </a:r>
          </a:p>
          <a:p>
            <a:pPr lvl="1">
              <a:defRPr/>
            </a:pPr>
            <a:r>
              <a:rPr lang="en-US" altLang="zh-CN" dirty="0" err="1"/>
              <a:t>ls.sort</a:t>
            </a:r>
            <a:r>
              <a:rPr lang="en-US" altLang="zh-CN" dirty="0"/>
              <a:t>(reverse = True)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3243262"/>
            <a:ext cx="747712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5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列表排序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4-18】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使用函数</a:t>
            </a:r>
            <a:r>
              <a:rPr lang="en-US" altLang="zh-CN" dirty="0"/>
              <a:t>sorted()</a:t>
            </a:r>
            <a:r>
              <a:rPr lang="zh-CN" altLang="en-US" dirty="0"/>
              <a:t>对列表进行临时排序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sorted(ls)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2802980"/>
            <a:ext cx="7681912" cy="337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2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反转列表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4-19】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</a:t>
            </a:r>
            <a:r>
              <a:rPr lang="en-US" altLang="zh-CN" dirty="0"/>
              <a:t>reverse()</a:t>
            </a:r>
            <a:r>
              <a:rPr lang="zh-CN" altLang="en-US" dirty="0"/>
              <a:t>函数反转列表元素的排列顺序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62" y="2257425"/>
            <a:ext cx="74961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字典类型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类型是“键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值”数据项的组合，每个元素是一个键值对，即元素是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(key, value)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，元素之间是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键值对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(key, value)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是一种二元关系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367213" y="3789363"/>
          <a:ext cx="3744912" cy="273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1561">
                  <a:extLst>
                    <a:ext uri="{9D8B030D-6E8A-4147-A177-3AD203B41FA5}">
                      <a16:colId xmlns:a16="http://schemas.microsoft.com/office/drawing/2014/main" val="3441349001"/>
                    </a:ext>
                  </a:extLst>
                </a:gridCol>
                <a:gridCol w="1533351">
                  <a:extLst>
                    <a:ext uri="{9D8B030D-6E8A-4147-A177-3AD203B41FA5}">
                      <a16:colId xmlns:a16="http://schemas.microsoft.com/office/drawing/2014/main" val="4068506641"/>
                    </a:ext>
                  </a:extLst>
                </a:gridCol>
              </a:tblGrid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学号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姓名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2647375973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彭一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296258098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181100002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许二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1686780443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181100003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韩三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1408182444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181100004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王四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3439301671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>
                          <a:effectLst/>
                        </a:rPr>
                        <a:t>181100005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杨五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438492635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181100006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王六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2580477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59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字典类型的基本概念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Python</a:t>
            </a:r>
            <a:r>
              <a:rPr lang="zh-CN" altLang="en-US" dirty="0"/>
              <a:t>语言中通过字典实现映射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Python</a:t>
            </a:r>
            <a:r>
              <a:rPr lang="zh-CN" altLang="en-US" dirty="0"/>
              <a:t>语言中的字典可以通过</a:t>
            </a:r>
            <a:r>
              <a:rPr lang="zh-CN" altLang="en-US" b="1" dirty="0">
                <a:solidFill>
                  <a:srgbClr val="FF0000"/>
                </a:solidFill>
              </a:rPr>
              <a:t>大括号</a:t>
            </a:r>
            <a:r>
              <a:rPr lang="en-US" altLang="zh-CN" b="1" dirty="0">
                <a:solidFill>
                  <a:srgbClr val="FF0000"/>
                </a:solidFill>
              </a:rPr>
              <a:t>{}</a:t>
            </a:r>
            <a:r>
              <a:rPr lang="zh-CN" altLang="en-US" dirty="0"/>
              <a:t>建立，建立模式如下：</a:t>
            </a:r>
          </a:p>
          <a:p>
            <a:pPr lvl="1">
              <a:defRPr/>
            </a:pPr>
            <a:r>
              <a:rPr lang="en-US" altLang="zh-CN" sz="2400" dirty="0"/>
              <a:t>{&lt;</a:t>
            </a:r>
            <a:r>
              <a:rPr lang="zh-CN" altLang="en-US" sz="2400" dirty="0"/>
              <a:t>键</a:t>
            </a:r>
            <a:r>
              <a:rPr lang="en-US" altLang="zh-CN" sz="2400" dirty="0"/>
              <a:t>1&gt;</a:t>
            </a:r>
            <a:r>
              <a:rPr lang="en-US" altLang="zh-CN" sz="2400" b="1" dirty="0">
                <a:solidFill>
                  <a:srgbClr val="FF0000"/>
                </a:solidFill>
              </a:rPr>
              <a:t>:</a:t>
            </a:r>
            <a:r>
              <a:rPr lang="en-US" altLang="zh-CN" sz="2400" dirty="0"/>
              <a:t>&lt;</a:t>
            </a:r>
            <a:r>
              <a:rPr lang="zh-CN" altLang="en-US" sz="2400" dirty="0"/>
              <a:t>值</a:t>
            </a:r>
            <a:r>
              <a:rPr lang="en-US" altLang="zh-CN" sz="2400" dirty="0"/>
              <a:t>1&gt;</a:t>
            </a:r>
            <a:r>
              <a:rPr lang="en-US" altLang="zh-CN" sz="2400" dirty="0">
                <a:solidFill>
                  <a:srgbClr val="00B050"/>
                </a:solidFill>
              </a:rPr>
              <a:t>, </a:t>
            </a:r>
            <a:r>
              <a:rPr lang="en-US" altLang="zh-CN" sz="2400" dirty="0"/>
              <a:t>&lt;</a:t>
            </a:r>
            <a:r>
              <a:rPr lang="zh-CN" altLang="en-US" sz="2400" dirty="0"/>
              <a:t>键</a:t>
            </a:r>
            <a:r>
              <a:rPr lang="en-US" altLang="zh-CN" sz="2400" dirty="0"/>
              <a:t>2&gt;</a:t>
            </a:r>
            <a:r>
              <a:rPr lang="en-US" altLang="zh-CN" sz="2400" b="1" dirty="0">
                <a:solidFill>
                  <a:srgbClr val="FF0000"/>
                </a:solidFill>
              </a:rPr>
              <a:t>:</a:t>
            </a:r>
            <a:r>
              <a:rPr lang="en-US" altLang="zh-CN" sz="2400" dirty="0"/>
              <a:t>&lt;</a:t>
            </a:r>
            <a:r>
              <a:rPr lang="zh-CN" altLang="en-US" sz="2400" dirty="0"/>
              <a:t>值</a:t>
            </a:r>
            <a:r>
              <a:rPr lang="en-US" altLang="zh-CN" sz="2400" dirty="0"/>
              <a:t>2&gt;</a:t>
            </a:r>
            <a:r>
              <a:rPr lang="en-US" altLang="zh-CN" sz="2400" dirty="0">
                <a:solidFill>
                  <a:srgbClr val="00B050"/>
                </a:solidFill>
              </a:rPr>
              <a:t>, </a:t>
            </a:r>
            <a:r>
              <a:rPr lang="en-US" altLang="zh-CN" sz="2400" dirty="0"/>
              <a:t>… </a:t>
            </a:r>
            <a:r>
              <a:rPr lang="en-US" altLang="zh-CN" sz="2400" dirty="0">
                <a:solidFill>
                  <a:srgbClr val="00B050"/>
                </a:solidFill>
              </a:rPr>
              <a:t>, </a:t>
            </a:r>
            <a:r>
              <a:rPr lang="en-US" altLang="zh-CN" sz="2400" dirty="0"/>
              <a:t>&lt;</a:t>
            </a:r>
            <a:r>
              <a:rPr lang="zh-CN" altLang="en-US" sz="2400" dirty="0"/>
              <a:t>键</a:t>
            </a:r>
            <a:r>
              <a:rPr lang="en-US" altLang="zh-CN" sz="2400" dirty="0"/>
              <a:t>n&gt;</a:t>
            </a:r>
            <a:r>
              <a:rPr lang="en-US" altLang="zh-CN" sz="2400" b="1" dirty="0">
                <a:solidFill>
                  <a:srgbClr val="FF0000"/>
                </a:solidFill>
              </a:rPr>
              <a:t>:</a:t>
            </a:r>
            <a:r>
              <a:rPr lang="en-US" altLang="zh-CN" sz="2400" dirty="0"/>
              <a:t>&lt;</a:t>
            </a:r>
            <a:r>
              <a:rPr lang="zh-CN" altLang="en-US" sz="2400" dirty="0"/>
              <a:t>值</a:t>
            </a:r>
            <a:r>
              <a:rPr lang="en-US" altLang="zh-CN" sz="2400" dirty="0"/>
              <a:t>n&gt;}</a:t>
            </a:r>
          </a:p>
          <a:p>
            <a:pPr lvl="1">
              <a:defRPr/>
            </a:pPr>
            <a:r>
              <a:rPr lang="zh-CN" altLang="en-US" sz="2400" dirty="0"/>
              <a:t>键和值通过</a:t>
            </a:r>
            <a:r>
              <a:rPr lang="zh-CN" altLang="en-US" sz="2400" b="1" dirty="0">
                <a:solidFill>
                  <a:srgbClr val="FF0000"/>
                </a:solidFill>
              </a:rPr>
              <a:t>冒号连接</a:t>
            </a:r>
            <a:endParaRPr lang="en-US" altLang="zh-CN" sz="2400" dirty="0"/>
          </a:p>
          <a:p>
            <a:pPr lvl="1">
              <a:defRPr/>
            </a:pPr>
            <a:r>
              <a:rPr lang="zh-CN" altLang="en-US" sz="2400" dirty="0"/>
              <a:t>不同键值对通过</a:t>
            </a:r>
            <a:r>
              <a:rPr lang="zh-CN" altLang="en-US" sz="2400" b="1" dirty="0">
                <a:solidFill>
                  <a:srgbClr val="00B050"/>
                </a:solidFill>
              </a:rPr>
              <a:t>逗号隔开</a:t>
            </a:r>
          </a:p>
        </p:txBody>
      </p:sp>
    </p:spTree>
    <p:extLst>
      <p:ext uri="{BB962C8B-B14F-4D97-AF65-F5344CB8AC3E}">
        <p14:creationId xmlns:p14="http://schemas.microsoft.com/office/powerpoint/2010/main" val="336216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042067" y="1749975"/>
          <a:ext cx="3744912" cy="273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1561">
                  <a:extLst>
                    <a:ext uri="{9D8B030D-6E8A-4147-A177-3AD203B41FA5}">
                      <a16:colId xmlns:a16="http://schemas.microsoft.com/office/drawing/2014/main" val="3441349001"/>
                    </a:ext>
                  </a:extLst>
                </a:gridCol>
                <a:gridCol w="1533351">
                  <a:extLst>
                    <a:ext uri="{9D8B030D-6E8A-4147-A177-3AD203B41FA5}">
                      <a16:colId xmlns:a16="http://schemas.microsoft.com/office/drawing/2014/main" val="4068506641"/>
                    </a:ext>
                  </a:extLst>
                </a:gridCol>
              </a:tblGrid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学号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>
                          <a:effectLst/>
                        </a:rPr>
                        <a:t>姓名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2647375973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彭一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296258098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181100002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许二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1686780443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181100003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韩三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1408182444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181100004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王四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3439301671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>
                          <a:effectLst/>
                        </a:rPr>
                        <a:t>181100005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杨五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438492635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u="none" strike="noStrike" dirty="0">
                          <a:effectLst/>
                        </a:rPr>
                        <a:t>181100006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u="none" strike="noStrike" dirty="0">
                          <a:effectLst/>
                        </a:rPr>
                        <a:t>王六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4" marR="4764" marT="4761" marB="0" anchor="ctr"/>
                </a:tc>
                <a:extLst>
                  <a:ext uri="{0D108BD9-81ED-4DB2-BD59-A6C34878D82A}">
                    <a16:rowId xmlns:a16="http://schemas.microsoft.com/office/drawing/2014/main" val="2580477553"/>
                  </a:ext>
                </a:extLst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" y="5190181"/>
            <a:ext cx="11255606" cy="4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3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字典的基本操作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创建一个空字典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往字典中添加键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访问字典中的值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修改字典中的值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删除键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成员资格</a:t>
            </a:r>
          </a:p>
        </p:txBody>
      </p:sp>
    </p:spTree>
    <p:extLst>
      <p:ext uri="{BB962C8B-B14F-4D97-AF65-F5344CB8AC3E}">
        <p14:creationId xmlns:p14="http://schemas.microsoft.com/office/powerpoint/2010/main" val="396087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创建一个空字典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9-15】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使用一对空的花括号定义一个空字典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82" y="3496050"/>
            <a:ext cx="9339036" cy="12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1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添加键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9-16】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字典是一种动态结构，可随时在其中添加键</a:t>
            </a:r>
            <a:r>
              <a:rPr lang="en-US" altLang="zh-CN" dirty="0"/>
              <a:t>-</a:t>
            </a:r>
            <a:r>
              <a:rPr lang="zh-CN" altLang="en-US" dirty="0"/>
              <a:t>值对，可依次指定字典名、用方括号括起来的键和相关联的值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通过</a:t>
            </a:r>
            <a:r>
              <a:rPr lang="zh-CN" altLang="en-US" b="1" dirty="0">
                <a:solidFill>
                  <a:srgbClr val="FF0000"/>
                </a:solidFill>
              </a:rPr>
              <a:t>中括号</a:t>
            </a:r>
            <a:r>
              <a:rPr lang="zh-CN" altLang="en-US" dirty="0"/>
              <a:t>可以增加新的元素 </a:t>
            </a:r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85" y="3810729"/>
            <a:ext cx="10138229" cy="190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9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修改字典中的值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9-17】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要修改字典中的值，可依次指定字典名、用方括号括起的键以及与该键相关联的新值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67" y="2931448"/>
            <a:ext cx="9777866" cy="28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8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访问字典中的值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9-18】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字典最主要的用法是查找与特定键相对应的值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方法一：索引操作（根据键找值，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键不存在则报错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84" y="2600895"/>
            <a:ext cx="8323943" cy="18044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957" y="4739399"/>
            <a:ext cx="8857795" cy="130228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548516" y="4485483"/>
            <a:ext cx="31213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= &lt;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字典变量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&gt;[&lt;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&gt;]</a:t>
            </a:r>
            <a:endParaRPr lang="zh-CN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855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访问字典中的值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9-19】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函数操作（键找值，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键不存在返回默认值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295970" y="2180856"/>
            <a:ext cx="468269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= &lt;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字典变量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&gt;.get(&lt;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&gt;,&lt;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默认值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&gt;)</a:t>
            </a:r>
            <a:endParaRPr lang="zh-CN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69" y="3227392"/>
            <a:ext cx="9796462" cy="259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9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删除键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9-20】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del &lt;d&gt;[&lt;key&gt;]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53" y="2305637"/>
            <a:ext cx="9562646" cy="180780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852" y="4555494"/>
            <a:ext cx="9525161" cy="179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1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删除键</a:t>
            </a:r>
            <a:r>
              <a:rPr lang="en-US" altLang="zh-CN" dirty="0"/>
              <a:t>-</a:t>
            </a:r>
            <a:r>
              <a:rPr lang="zh-CN" altLang="en-US" dirty="0"/>
              <a:t>值对（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9-21】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&lt;d&gt;.pop(&lt;key&gt;)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57" y="2928672"/>
            <a:ext cx="10043886" cy="226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7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删除键</a:t>
            </a:r>
            <a:r>
              <a:rPr lang="en-US" altLang="zh-CN" dirty="0"/>
              <a:t>-</a:t>
            </a:r>
            <a:r>
              <a:rPr lang="zh-CN" altLang="en-US" dirty="0"/>
              <a:t>值对（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9-22】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&lt;d&gt;.</a:t>
            </a:r>
            <a:r>
              <a:rPr lang="en-US" altLang="zh-CN" dirty="0" err="1"/>
              <a:t>popitem</a:t>
            </a:r>
            <a:r>
              <a:rPr lang="en-US" altLang="zh-CN" dirty="0"/>
              <a:t>()</a:t>
            </a:r>
            <a:endParaRPr lang="zh-CN" altLang="en-US" dirty="0"/>
          </a:p>
          <a:p>
            <a:pPr lvl="1">
              <a:defRPr/>
            </a:pPr>
            <a:r>
              <a:rPr lang="zh-CN" altLang="en-US" dirty="0"/>
              <a:t>随机从字典中取出一个键值对，以元组（</a:t>
            </a:r>
            <a:r>
              <a:rPr lang="en-US" altLang="zh-CN" dirty="0"/>
              <a:t>key, value</a:t>
            </a:r>
            <a:r>
              <a:rPr lang="zh-CN" altLang="en-US" dirty="0"/>
              <a:t>）形式返回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55" y="3198964"/>
            <a:ext cx="10101489" cy="193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0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删除键</a:t>
            </a:r>
            <a:r>
              <a:rPr lang="en-US" altLang="zh-CN" dirty="0"/>
              <a:t>-</a:t>
            </a:r>
            <a:r>
              <a:rPr lang="zh-CN" altLang="en-US" dirty="0"/>
              <a:t>值对（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9-23】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&lt;d&gt;.clear()</a:t>
            </a:r>
          </a:p>
          <a:p>
            <a:pPr lvl="1"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清空</a:t>
            </a:r>
            <a:r>
              <a:rPr lang="zh-CN" altLang="en-US" dirty="0"/>
              <a:t>所有的键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38" y="3319325"/>
            <a:ext cx="10293123" cy="193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5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成员资格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9-24】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&lt;key&gt; in &lt;d&gt;</a:t>
            </a:r>
          </a:p>
          <a:p>
            <a:pPr lvl="1">
              <a:defRPr/>
            </a:pPr>
            <a:r>
              <a:rPr lang="zh-CN" altLang="en-US" dirty="0"/>
              <a:t>如果</a:t>
            </a:r>
            <a:r>
              <a:rPr lang="zh-CN" altLang="en-US" dirty="0">
                <a:solidFill>
                  <a:srgbClr val="FF0000"/>
                </a:solidFill>
              </a:rPr>
              <a:t>键</a:t>
            </a:r>
            <a:r>
              <a:rPr lang="zh-CN" altLang="en-US" dirty="0"/>
              <a:t>在字典中则返回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686" y="3077140"/>
            <a:ext cx="9268505" cy="274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7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遍历字典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遍历所有的键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遍历字典中的所有键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按顺序遍历字典中的所有键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遍历字典中的所有值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393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遍历所有的键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9-25】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item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&lt;d&gt;.items():</a:t>
            </a:r>
          </a:p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k, v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&lt;d&gt;.items():</a:t>
            </a:r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56" y="2964108"/>
            <a:ext cx="9564687" cy="285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7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遍历字典中的所有键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9-26】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k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&lt;d&gt;.keys():</a:t>
            </a:r>
          </a:p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k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&lt;d&gt;: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85" y="2848684"/>
            <a:ext cx="10387693" cy="307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5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/>
              <a:t>按顺序遍历字典中的所有键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9-27】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k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sorted</a:t>
            </a:r>
            <a:r>
              <a:rPr lang="en-US" altLang="zh-CN" dirty="0"/>
              <a:t>(&lt;d&gt;.keys()):</a:t>
            </a:r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33" y="3127235"/>
            <a:ext cx="9830933" cy="177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6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遍历字典中的所有值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9-28】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v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&lt;d&gt;.values():</a:t>
            </a:r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8" y="2921302"/>
            <a:ext cx="9985827" cy="189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38A63-D534-7249-A588-9A60329D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lang="zh-CN" altLang="en-US" dirty="0"/>
              <a:t>程序控制结构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B0CE2F9-DF01-E940-AE79-26891A161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68090-9F33-1944-B815-F06055EF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A038-A2DE-BC48-A788-F05078674D9D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EDF4B-B0C4-1C45-90B5-54576D85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94C11A-F535-E241-A2FF-614C2376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04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循环分类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根据循环执行次数的确定性，循环可以分为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确定次数循环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非确定次数循环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/>
              <a:t>确定次数循环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for</a:t>
            </a:r>
            <a:r>
              <a:rPr lang="zh-CN" altLang="en-US" dirty="0"/>
              <a:t>循环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非确定次数循环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while</a:t>
            </a:r>
            <a:r>
              <a:rPr lang="zh-CN" altLang="en-US" dirty="0"/>
              <a:t>循环</a:t>
            </a:r>
          </a:p>
        </p:txBody>
      </p:sp>
    </p:spTree>
    <p:extLst>
      <p:ext uri="{BB962C8B-B14F-4D97-AF65-F5344CB8AC3E}">
        <p14:creationId xmlns:p14="http://schemas.microsoft.com/office/powerpoint/2010/main" val="238172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遍历循环</a:t>
            </a:r>
            <a:r>
              <a:rPr lang="en-US" altLang="zh-CN" dirty="0"/>
              <a:t>: for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确定次数循环指循环体对循环次数有明确的定义循环次数</a:t>
            </a:r>
          </a:p>
          <a:p>
            <a:r>
              <a:rPr lang="zh-CN" altLang="en-US" dirty="0"/>
              <a:t>遍历循环：采用</a:t>
            </a:r>
            <a:r>
              <a:rPr lang="zh-CN" altLang="en-US"/>
              <a:t>遍历结构（对象）中</a:t>
            </a:r>
            <a:r>
              <a:rPr lang="zh-CN" altLang="en-US" dirty="0"/>
              <a:t>元素个数来体现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通过保留字</a:t>
            </a:r>
            <a:r>
              <a:rPr lang="en-US" altLang="zh-CN" dirty="0"/>
              <a:t>for</a:t>
            </a:r>
            <a:r>
              <a:rPr lang="zh-CN" altLang="en-US" dirty="0"/>
              <a:t>实现“遍历循环” ：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414901" y="3862331"/>
            <a:ext cx="4451697" cy="1728192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for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循环变量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in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对象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A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宋体" pitchFamily="2" charset="-122"/>
              </a:rPr>
              <a:t>else:  #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宋体" pitchFamily="2" charset="-122"/>
              </a:rPr>
              <a:t>可选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宋体" pitchFamily="2" charset="-122"/>
                <a:cs typeface="宋体" pitchFamily="2" charset="-122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宋体" pitchFamily="2" charset="-122"/>
              </a:rPr>
              <a:t>     语句块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宋体" pitchFamily="2" charset="-122"/>
              </a:rPr>
              <a:t>B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 </a:t>
            </a: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7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遍历循环</a:t>
            </a:r>
            <a:r>
              <a:rPr lang="en-US" altLang="zh-CN" dirty="0"/>
              <a:t>: for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遍历结构可以是字符串、文件、组合数据类型或range()函数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42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79563" y="2742826"/>
          <a:ext cx="9686952" cy="3062287"/>
        </p:xfrm>
        <a:graphic>
          <a:graphicData uri="http://schemas.openxmlformats.org/drawingml/2006/table">
            <a:tbl>
              <a:tblPr/>
              <a:tblGrid>
                <a:gridCol w="2317365">
                  <a:extLst>
                    <a:ext uri="{9D8B030D-6E8A-4147-A177-3AD203B41FA5}">
                      <a16:colId xmlns:a16="http://schemas.microsoft.com/office/drawing/2014/main" val="2412508430"/>
                    </a:ext>
                  </a:extLst>
                </a:gridCol>
                <a:gridCol w="2504973">
                  <a:extLst>
                    <a:ext uri="{9D8B030D-6E8A-4147-A177-3AD203B41FA5}">
                      <a16:colId xmlns:a16="http://schemas.microsoft.com/office/drawing/2014/main" val="3547799605"/>
                    </a:ext>
                  </a:extLst>
                </a:gridCol>
                <a:gridCol w="2504973">
                  <a:extLst>
                    <a:ext uri="{9D8B030D-6E8A-4147-A177-3AD203B41FA5}">
                      <a16:colId xmlns:a16="http://schemas.microsoft.com/office/drawing/2014/main" val="2357808641"/>
                    </a:ext>
                  </a:extLst>
                </a:gridCol>
                <a:gridCol w="2359641">
                  <a:extLst>
                    <a:ext uri="{9D8B030D-6E8A-4147-A177-3AD203B41FA5}">
                      <a16:colId xmlns:a16="http://schemas.microsoft.com/office/drawing/2014/main" val="1286797247"/>
                    </a:ext>
                  </a:extLst>
                </a:gridCol>
              </a:tblGrid>
              <a:tr h="3062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循环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in range(N):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&lt;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语句块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遍历字符串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c in s: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&lt;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语句块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遍历文件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的每一行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line in fi: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&lt;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语句块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遍历列表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 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item in ls: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&lt;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语句块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095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40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内建函数</a:t>
            </a:r>
            <a:r>
              <a:rPr lang="en-US" altLang="zh-CN" dirty="0"/>
              <a:t>range()</a:t>
            </a:r>
            <a:r>
              <a:rPr lang="zh-CN" altLang="en-US" dirty="0"/>
              <a:t>用于生成整数序列</a:t>
            </a:r>
            <a:endParaRPr lang="en-US" altLang="zh-CN" dirty="0"/>
          </a:p>
          <a:p>
            <a:r>
              <a:rPr lang="zh-CN" altLang="en-US" dirty="0"/>
              <a:t>通常的写法是：</a:t>
            </a:r>
            <a:r>
              <a:rPr lang="en-US" altLang="zh-CN" dirty="0"/>
              <a:t>range(start, end, step)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左闭右开区间</a:t>
            </a:r>
            <a:r>
              <a:rPr lang="en-US" altLang="zh-CN" b="1" dirty="0">
                <a:solidFill>
                  <a:srgbClr val="FF0000"/>
                </a:solidFill>
              </a:rPr>
              <a:t>[start, end)</a:t>
            </a:r>
          </a:p>
          <a:p>
            <a:r>
              <a:rPr lang="en-US" altLang="zh-CN" dirty="0"/>
              <a:t>step</a:t>
            </a:r>
            <a:r>
              <a:rPr lang="zh-CN" altLang="en-US" dirty="0"/>
              <a:t>代表序列的步长（可以省略，默认值是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11767" y="1444625"/>
            <a:ext cx="3302465" cy="4732338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+ range()</a:t>
            </a:r>
            <a:r>
              <a:rPr lang="zh-CN" altLang="en-US" dirty="0"/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409509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for+</a:t>
            </a:r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字符串可以看作是字符的序列</a:t>
            </a:r>
            <a:endParaRPr lang="en-US" altLang="zh-CN" dirty="0"/>
          </a:p>
          <a:p>
            <a:r>
              <a:rPr lang="zh-CN" altLang="en-US" dirty="0"/>
              <a:t>每个字符作为一个循环变量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341" y="3227070"/>
            <a:ext cx="5514975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5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无限循环</a:t>
            </a:r>
            <a:r>
              <a:rPr lang="en-US" altLang="zh-CN" dirty="0"/>
              <a:t>: while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无限循环一直保持循环操作直到特定循环条件不被满足才结束，不需要提前知道确定循环次数。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通过保留字</a:t>
            </a:r>
            <a:r>
              <a:rPr lang="en-US" altLang="zh-CN" dirty="0"/>
              <a:t>while</a:t>
            </a:r>
            <a:r>
              <a:rPr lang="zh-CN" altLang="en-US" dirty="0"/>
              <a:t>实现无限循环，使用方法如下：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365027" y="3301121"/>
            <a:ext cx="6214402" cy="1940124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初始值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while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表达式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:  #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表达式的值为真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  语句块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A	  #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符合条件时执行的语句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else:       	  #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可选项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  语句块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B</a:t>
            </a:r>
            <a:endParaRPr kumimoji="0" lang="zh-CN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8" name="Picture 2" descr="3t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45" y="3049595"/>
            <a:ext cx="1872208" cy="267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19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中断当前循环</a:t>
            </a:r>
            <a:r>
              <a:rPr lang="en-US" altLang="zh-CN" dirty="0"/>
              <a:t>break</a:t>
            </a:r>
          </a:p>
          <a:p>
            <a:r>
              <a:rPr lang="zh-CN" altLang="en-US" dirty="0"/>
              <a:t>中断本次循环</a:t>
            </a:r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95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3-10】</a:t>
            </a:r>
            <a:r>
              <a:rPr lang="zh-CN" altLang="en-US" dirty="0"/>
              <a:t>：打</a:t>
            </a:r>
            <a:r>
              <a:rPr lang="en-US" altLang="zh-CN" dirty="0"/>
              <a:t>10</a:t>
            </a:r>
            <a:r>
              <a:rPr lang="zh-CN" altLang="en-US" dirty="0"/>
              <a:t>次游戏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738" y="1912527"/>
            <a:ext cx="6109713" cy="3436714"/>
          </a:xfr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339" y="1386632"/>
            <a:ext cx="3970060" cy="489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0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3-11】</a:t>
            </a:r>
            <a:r>
              <a:rPr lang="zh-CN" altLang="en-US" dirty="0"/>
              <a:t>中断循环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中断游戏，不玩了</a:t>
            </a:r>
            <a:endParaRPr lang="en-US" altLang="zh-CN" dirty="0"/>
          </a:p>
          <a:p>
            <a:pPr lvl="1"/>
            <a:r>
              <a:rPr lang="en-US" altLang="zh-CN" dirty="0"/>
              <a:t>break</a:t>
            </a:r>
          </a:p>
          <a:p>
            <a:r>
              <a:rPr lang="zh-CN" altLang="en-US" dirty="0"/>
              <a:t>中断本次游戏，开始下一局</a:t>
            </a:r>
            <a:endParaRPr lang="en-US" altLang="zh-CN" dirty="0"/>
          </a:p>
          <a:p>
            <a:pPr lvl="1"/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261" y="254000"/>
            <a:ext cx="5295739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1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转移和中断语句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break</a:t>
            </a:r>
            <a:r>
              <a:rPr lang="zh-CN" altLang="en-US" dirty="0"/>
              <a:t>语句</a:t>
            </a:r>
          </a:p>
          <a:p>
            <a:pPr lvl="1"/>
            <a:r>
              <a:rPr lang="en-US" altLang="zh-CN" dirty="0"/>
              <a:t>break</a:t>
            </a:r>
            <a:r>
              <a:rPr lang="zh-CN" altLang="en-US" dirty="0"/>
              <a:t>语句用于中断当前循环的执行，跳出循环结构</a:t>
            </a:r>
            <a:endParaRPr lang="en-US" altLang="zh-CN" dirty="0"/>
          </a:p>
          <a:p>
            <a:pPr lvl="1"/>
            <a:r>
              <a:rPr lang="zh-CN" altLang="en-US" dirty="0"/>
              <a:t>对于包含</a:t>
            </a:r>
            <a:r>
              <a:rPr lang="en-US" altLang="zh-CN" dirty="0"/>
              <a:t>else</a:t>
            </a:r>
            <a:r>
              <a:rPr lang="zh-CN" altLang="en-US" dirty="0"/>
              <a:t>子句的</a:t>
            </a:r>
            <a:r>
              <a:rPr lang="en-US" altLang="zh-CN" dirty="0"/>
              <a:t>while</a:t>
            </a:r>
            <a:r>
              <a:rPr lang="zh-CN" altLang="en-US" dirty="0"/>
              <a:t>循环和</a:t>
            </a:r>
            <a:r>
              <a:rPr lang="en-US" altLang="zh-CN" dirty="0"/>
              <a:t>for</a:t>
            </a:r>
            <a:r>
              <a:rPr lang="zh-CN" altLang="en-US" dirty="0"/>
              <a:t>循环而言，在</a:t>
            </a:r>
            <a:r>
              <a:rPr lang="en-US" altLang="zh-CN" dirty="0"/>
              <a:t>while</a:t>
            </a:r>
            <a:r>
              <a:rPr lang="zh-CN" altLang="en-US" dirty="0"/>
              <a:t>或</a:t>
            </a:r>
            <a:r>
              <a:rPr lang="en-US" altLang="zh-CN" dirty="0"/>
              <a:t>for</a:t>
            </a:r>
            <a:r>
              <a:rPr lang="zh-CN" altLang="en-US" dirty="0"/>
              <a:t>子句中一旦执行</a:t>
            </a:r>
            <a:r>
              <a:rPr lang="en-US" altLang="zh-CN" dirty="0"/>
              <a:t>break</a:t>
            </a:r>
            <a:r>
              <a:rPr lang="zh-CN" altLang="en-US" dirty="0"/>
              <a:t>语句，</a:t>
            </a:r>
            <a:r>
              <a:rPr lang="en-US" altLang="zh-CN" dirty="0"/>
              <a:t>else</a:t>
            </a:r>
            <a:r>
              <a:rPr lang="zh-CN" altLang="en-US" dirty="0"/>
              <a:t>子句将没有机会执行</a:t>
            </a:r>
            <a:endParaRPr lang="en-US" altLang="zh-CN" dirty="0"/>
          </a:p>
          <a:p>
            <a:r>
              <a:rPr lang="en-US" altLang="zh-CN" dirty="0"/>
              <a:t>Continue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/>
            <a:r>
              <a:rPr lang="zh-CN" altLang="zh-CN" dirty="0"/>
              <a:t>与</a:t>
            </a:r>
            <a:r>
              <a:rPr lang="en-US" altLang="zh-CN" dirty="0"/>
              <a:t>break</a:t>
            </a:r>
            <a:r>
              <a:rPr lang="zh-CN" altLang="zh-CN" dirty="0"/>
              <a:t>语句不同，</a:t>
            </a:r>
            <a:r>
              <a:rPr lang="en-US" altLang="zh-CN" dirty="0"/>
              <a:t>continue</a:t>
            </a:r>
            <a:r>
              <a:rPr lang="zh-CN" altLang="zh-CN" dirty="0"/>
              <a:t>语句用于中断本次循环的执行，进入下一轮循环条件是否满足的判断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60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半路循环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前面介绍过死循环的概念，在死循环程序中，通过添加</a:t>
            </a:r>
            <a:r>
              <a:rPr lang="en-US" altLang="zh-CN" dirty="0"/>
              <a:t>break</a:t>
            </a:r>
            <a:r>
              <a:rPr lang="zh-CN" altLang="zh-CN" dirty="0"/>
              <a:t>语句终止程序的执行，称为半路循环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33" y="2764518"/>
            <a:ext cx="61626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2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kwfud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wfudan" id="{E1362BAB-E77F-4B1B-94E7-BC9791D56CCE}" vid="{D2FFA553-2E31-419E-9B16-5C1D011AFFA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21746</TotalTime>
  <Words>1683</Words>
  <Application>Microsoft Office PowerPoint</Application>
  <PresentationFormat>宽屏</PresentationFormat>
  <Paragraphs>279</Paragraphs>
  <Slides>50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等线</vt:lpstr>
      <vt:lpstr>等线 Light</vt:lpstr>
      <vt:lpstr>宋体</vt:lpstr>
      <vt:lpstr>微软雅黑</vt:lpstr>
      <vt:lpstr>Arial</vt:lpstr>
      <vt:lpstr>Calibri</vt:lpstr>
      <vt:lpstr>Courier New</vt:lpstr>
      <vt:lpstr>Times New Roman</vt:lpstr>
      <vt:lpstr>kwfudan</vt:lpstr>
      <vt:lpstr>Python课程答疑</vt:lpstr>
      <vt:lpstr>上半学期复习资料</vt:lpstr>
      <vt:lpstr>1 输入输出</vt:lpstr>
      <vt:lpstr>为什么会有字符串的格式化问题？</vt:lpstr>
      <vt:lpstr> format()方法的基本使用</vt:lpstr>
      <vt:lpstr>更改槽的顺序</vt:lpstr>
      <vt:lpstr> format()方法的格式控制</vt:lpstr>
      <vt:lpstr>参考示例</vt:lpstr>
      <vt:lpstr>2 数据类型</vt:lpstr>
      <vt:lpstr>列表的额外操作</vt:lpstr>
      <vt:lpstr>修改列表元素【例4-11】</vt:lpstr>
      <vt:lpstr>在列表中添加元素【例4-12】</vt:lpstr>
      <vt:lpstr>在列表中添加元素(2) 【例4-13】</vt:lpstr>
      <vt:lpstr>从列表中删除元素【例4-14】</vt:lpstr>
      <vt:lpstr>从列表中删除元素(2) 【例4-15】</vt:lpstr>
      <vt:lpstr>从列表中删除元素(3) 【例4-16】</vt:lpstr>
      <vt:lpstr>列表排序【例4-17】</vt:lpstr>
      <vt:lpstr>列表排序【例4-18】</vt:lpstr>
      <vt:lpstr>反转列表【例4-19】</vt:lpstr>
      <vt:lpstr>字典类型</vt:lpstr>
      <vt:lpstr>字典类型的基本概念</vt:lpstr>
      <vt:lpstr>示例</vt:lpstr>
      <vt:lpstr>字典的基本操作</vt:lpstr>
      <vt:lpstr>创建一个空字典【例9-15】</vt:lpstr>
      <vt:lpstr>添加键-值对【例9-16】</vt:lpstr>
      <vt:lpstr>修改字典中的值【例9-17】</vt:lpstr>
      <vt:lpstr>访问字典中的值【例9-18】</vt:lpstr>
      <vt:lpstr>访问字典中的值【例9-19】</vt:lpstr>
      <vt:lpstr>删除键-值对【例9-20】</vt:lpstr>
      <vt:lpstr>删除键-值对（2）【例9-21】</vt:lpstr>
      <vt:lpstr>删除键-值对（3）【例9-22】</vt:lpstr>
      <vt:lpstr>删除键-值对（4）【例9-23】</vt:lpstr>
      <vt:lpstr>成员资格【例9-24】</vt:lpstr>
      <vt:lpstr>遍历字典</vt:lpstr>
      <vt:lpstr>遍历所有的键-值对【例9-25】</vt:lpstr>
      <vt:lpstr>遍历字典中的所有键【例9-26】</vt:lpstr>
      <vt:lpstr>按顺序遍历字典中的所有键【例9-27】</vt:lpstr>
      <vt:lpstr>遍历字典中的所有值【例9-28】</vt:lpstr>
      <vt:lpstr>3 程序控制结构</vt:lpstr>
      <vt:lpstr>循环分类</vt:lpstr>
      <vt:lpstr>遍历循环: for语句</vt:lpstr>
      <vt:lpstr>遍历循环: for语句</vt:lpstr>
      <vt:lpstr>for + range()函数</vt:lpstr>
      <vt:lpstr>for+字符串</vt:lpstr>
      <vt:lpstr>无限循环: while语句</vt:lpstr>
      <vt:lpstr>中断循环</vt:lpstr>
      <vt:lpstr>【例3-10】：打10次游戏</vt:lpstr>
      <vt:lpstr>【例3-11】中断循环</vt:lpstr>
      <vt:lpstr>转移和中断语句</vt:lpstr>
      <vt:lpstr>半路循环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中文知识图谱CN-DBpedia构建的关键技术</dc:title>
  <dc:creator>Bo Xu</dc:creator>
  <cp:lastModifiedBy>Administrator</cp:lastModifiedBy>
  <cp:revision>2841</cp:revision>
  <cp:lastPrinted>2017-08-24T15:00:07Z</cp:lastPrinted>
  <dcterms:created xsi:type="dcterms:W3CDTF">2017-05-30T12:07:43Z</dcterms:created>
  <dcterms:modified xsi:type="dcterms:W3CDTF">2024-10-09T02:32:53Z</dcterms:modified>
</cp:coreProperties>
</file>